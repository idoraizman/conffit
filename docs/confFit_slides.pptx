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71" r:id="rId7"/>
    <p:sldId id="272" r:id="rId8"/>
    <p:sldId id="263" r:id="rId9"/>
    <p:sldId id="273" r:id="rId10"/>
    <p:sldId id="269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B25A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37F1C-6DFF-131A-2CC0-4637A0A50427}" v="180" dt="2026-07-18T13:57:08.366"/>
    <p1510:client id="{52FD6932-90FA-71DE-2EC3-2609DA04E45C}" v="17" dt="2026-07-19T09:47:52.546"/>
    <p1510:client id="{CCCDADB9-1DCF-0828-EE5D-FB87EB302388}" v="714" dt="2026-07-18T13:20:33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D6-AF46-A281-5EF5610CD4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RAG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D6-AF46-A281-5EF5610CD43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ConfFit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D6-AF46-A281-5EF5610CD4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4A3B8"/>
              </a:solidFill>
              <a:latin typeface="Assistant"/>
              <a:cs typeface="Assistan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65-E046-8B24-24AA284DA4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Simple RAG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65-E046-8B24-24AA284DA4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ConfFit</c:v>
                </c:pt>
              </c:strCache>
            </c:strRef>
          </c:tx>
          <c:spPr>
            <a:solidFill>
              <a:srgbClr val="A3E6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1F5F9"/>
                    </a:solidFill>
                    <a:latin typeface="Assistant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65-E046-8B24-24AA284DA4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4A3B8"/>
              </a:solidFill>
              <a:latin typeface="Assistant"/>
              <a:cs typeface="Assistan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72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A3E63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CF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ConfFit: </a:t>
            </a:r>
            <a:r>
              <a:rPr lang="en-US" sz="46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Agentic</a:t>
            </a:r>
            <a:endParaRPr lang="en-US" sz="460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Submission Assistant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566928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5000"/>
              </a:lnSpc>
            </a:pPr>
            <a:r>
              <a:rPr lang="en-US" sz="19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An agent that adapts a research paper to a target conference – reframing its contribution and fixing its format – grounded in each venue’s Call-for-Papers.</a:t>
            </a:r>
            <a:endParaRPr lang="en-US" sz="1900">
              <a:latin typeface="Assistant"/>
              <a:cs typeface="Assistan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6928" y="5120640"/>
            <a:ext cx="3474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94A3B8"/>
                </a:solidFill>
                <a:latin typeface="Assistant"/>
                <a:cs typeface="Assistant"/>
              </a:rPr>
              <a:t>Presented by</a:t>
            </a:r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66928" y="5383929"/>
            <a:ext cx="3757748" cy="35850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F1F5F9"/>
                </a:solidFill>
                <a:latin typeface="Assistant"/>
                <a:cs typeface="Assistant"/>
              </a:rPr>
              <a:t>Itay Krausz, Ido Raizman, Roi Teichman</a:t>
            </a:r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01 / 11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START WITH WHY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Pain: Re-submission Is Costly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10000"/>
              </a:lnSpc>
            </a:pPr>
            <a:r>
              <a:rPr lang="en-US" sz="20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The same core research goes to many venues.</a:t>
            </a:r>
            <a:endParaRPr lang="en-US" sz="2000">
              <a:solidFill>
                <a:srgbClr val="000000"/>
              </a:solidFill>
              <a:latin typeface="Assistant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0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Each rejection cycle burns </a:t>
            </a:r>
            <a:r>
              <a:rPr lang="en-US" sz="2000" b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weeks</a:t>
            </a:r>
            <a:r>
              <a:rPr lang="en-US" sz="20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 on repositioning, not science.</a:t>
            </a:r>
            <a:endParaRPr lang="en-US" sz="2000">
              <a:latin typeface="Assistant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5391760" cy="1627632"/>
          </a:xfrm>
          <a:prstGeom prst="roundRect">
            <a:avLst>
              <a:gd name="adj" fmla="val 56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icons/crossh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4871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2468880"/>
            <a:ext cx="429448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Wrong framing</a:t>
            </a:r>
          </a:p>
        </p:txBody>
      </p:sp>
      <p:sp>
        <p:nvSpPr>
          <p:cNvPr id="8" name="Text 5"/>
          <p:cNvSpPr/>
          <p:nvPr/>
        </p:nvSpPr>
        <p:spPr>
          <a:xfrm>
            <a:off x="888855" y="3028551"/>
            <a:ext cx="5030934" cy="67476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600">
                <a:solidFill>
                  <a:srgbClr val="94A3B8"/>
                </a:solidFill>
                <a:latin typeface="Assistant"/>
                <a:ea typeface="Calibri"/>
                <a:cs typeface="Assistant"/>
              </a:rPr>
              <a:t>In many cases, papers are </a:t>
            </a:r>
            <a:r>
              <a:rPr lang="en-US" sz="1600" b="1">
                <a:solidFill>
                  <a:srgbClr val="F1F5F9"/>
                </a:solidFill>
                <a:latin typeface="Assistant"/>
                <a:cs typeface="Assistant"/>
              </a:rPr>
              <a:t>suitable for many venues</a:t>
            </a:r>
            <a:r>
              <a:rPr lang="en-US" sz="1600">
                <a:solidFill>
                  <a:srgbClr val="94A3B8"/>
                </a:solidFill>
                <a:latin typeface="Assistant"/>
                <a:ea typeface="Calibri"/>
                <a:cs typeface="Assistant"/>
              </a:rPr>
              <a:t>,</a:t>
            </a:r>
            <a:br>
              <a:rPr lang="en-US" sz="1600">
                <a:solidFill>
                  <a:srgbClr val="94A3B8"/>
                </a:solidFill>
                <a:latin typeface="Assistant"/>
                <a:ea typeface="Calibri"/>
                <a:cs typeface="Assistant"/>
              </a:rPr>
            </a:br>
            <a:r>
              <a:rPr lang="en-US" sz="1600">
                <a:solidFill>
                  <a:srgbClr val="94A3B8"/>
                </a:solidFill>
                <a:latin typeface="Assistant"/>
                <a:ea typeface="Calibri"/>
                <a:cs typeface="Assistant"/>
              </a:rPr>
              <a:t>but with the wrong framing, they will be rejected</a:t>
            </a:r>
            <a:endParaRPr lang="he-IL"/>
          </a:p>
        </p:txBody>
      </p:sp>
      <p:sp>
        <p:nvSpPr>
          <p:cNvPr id="9" name="Shape 6"/>
          <p:cNvSpPr/>
          <p:nvPr/>
        </p:nvSpPr>
        <p:spPr>
          <a:xfrm>
            <a:off x="6233008" y="2212848"/>
            <a:ext cx="5391760" cy="1627632"/>
          </a:xfrm>
          <a:prstGeom prst="roundRect">
            <a:avLst>
              <a:gd name="adj" fmla="val 56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0" name="Image 1" descr="icons/ru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904" y="24871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1688" y="2468880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Format friction</a:t>
            </a:r>
            <a:endParaRPr lang="en-US" sz="1700"/>
          </a:p>
        </p:txBody>
      </p:sp>
      <p:sp>
        <p:nvSpPr>
          <p:cNvPr id="12" name="Text 8"/>
          <p:cNvSpPr/>
          <p:nvPr/>
        </p:nvSpPr>
        <p:spPr>
          <a:xfrm>
            <a:off x="6562192" y="3035808"/>
            <a:ext cx="4733392" cy="667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Template, citation style, page limits, and </a:t>
            </a:r>
            <a:r>
              <a:rPr lang="en-US" sz="16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double-blind anonymity</a:t>
            </a: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 differ per venue.</a:t>
            </a:r>
            <a:endParaRPr lang="en-US" sz="1600">
              <a:latin typeface="Assistant"/>
              <a:ea typeface="Calibri"/>
              <a:cs typeface="Assistan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66928" y="4114800"/>
            <a:ext cx="5391760" cy="1627632"/>
          </a:xfrm>
          <a:prstGeom prst="roundRect">
            <a:avLst>
              <a:gd name="adj" fmla="val 56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mage 2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3891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35608" y="4370832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Repeated manual work</a:t>
            </a:r>
            <a:endParaRPr lang="en-US" sz="1700"/>
          </a:p>
        </p:txBody>
      </p:sp>
      <p:sp>
        <p:nvSpPr>
          <p:cNvPr id="16" name="Text 11"/>
          <p:cNvSpPr/>
          <p:nvPr/>
        </p:nvSpPr>
        <p:spPr>
          <a:xfrm>
            <a:off x="896112" y="4937760"/>
            <a:ext cx="4733392" cy="667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Every venue means re-reading its CFP and re-writing the abstract </a:t>
            </a:r>
            <a:r>
              <a:rPr lang="en-US" sz="16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by hand</a:t>
            </a: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.</a:t>
            </a:r>
            <a:endParaRPr lang="en-US" sz="1600">
              <a:latin typeface="Assistant"/>
              <a:ea typeface="Calibri"/>
              <a:cs typeface="Assistant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233008" y="4114800"/>
            <a:ext cx="5391760" cy="1627632"/>
          </a:xfrm>
          <a:prstGeom prst="roundRect">
            <a:avLst>
              <a:gd name="adj" fmla="val 56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mage 3" descr="icons/ques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904" y="438912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01688" y="4370832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No venue intuition</a:t>
            </a:r>
            <a:endParaRPr lang="en-US" sz="1700"/>
          </a:p>
        </p:txBody>
      </p:sp>
      <p:sp>
        <p:nvSpPr>
          <p:cNvPr id="20" name="Text 14"/>
          <p:cNvSpPr/>
          <p:nvPr/>
        </p:nvSpPr>
        <p:spPr>
          <a:xfrm>
            <a:off x="6562192" y="4937760"/>
            <a:ext cx="4733392" cy="6675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Researchers might not know a venue’s </a:t>
            </a:r>
            <a:r>
              <a:rPr lang="en-US" sz="16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accepted-paper emphasis</a:t>
            </a:r>
            <a:r>
              <a:rPr lang="en-US" sz="16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 – the biggest driver of fit.</a:t>
            </a:r>
            <a:endParaRPr lang="en-US" sz="1600">
              <a:latin typeface="Assistant"/>
              <a:ea typeface="Calibri"/>
              <a:cs typeface="Assistant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22" name="Text 16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 / 11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8"/>
          <p:cNvSpPr/>
          <p:nvPr/>
        </p:nvSpPr>
        <p:spPr>
          <a:xfrm>
            <a:off x="6720840" y="1783080"/>
            <a:ext cx="4903927" cy="3794760"/>
          </a:xfrm>
          <a:prstGeom prst="roundRect">
            <a:avLst>
              <a:gd name="adj" fmla="val 24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FC48B1CB-C122-7426-77DF-3C655E20210B}"/>
              </a:ext>
            </a:extLst>
          </p:cNvPr>
          <p:cNvSpPr/>
          <p:nvPr/>
        </p:nvSpPr>
        <p:spPr>
          <a:xfrm>
            <a:off x="7178040" y="3931920"/>
            <a:ext cx="3989527" cy="621792"/>
          </a:xfrm>
          <a:prstGeom prst="roundRect">
            <a:avLst>
              <a:gd name="adj" fmla="val 14706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BB42636-C112-1D7F-1723-FDAA042F4BF5}"/>
              </a:ext>
            </a:extLst>
          </p:cNvPr>
          <p:cNvSpPr/>
          <p:nvPr/>
        </p:nvSpPr>
        <p:spPr>
          <a:xfrm>
            <a:off x="7178039" y="4715691"/>
            <a:ext cx="3989527" cy="621792"/>
          </a:xfrm>
          <a:prstGeom prst="roundRect">
            <a:avLst>
              <a:gd name="adj" fmla="val 14706"/>
            </a:avLst>
          </a:prstGeom>
          <a:solidFill>
            <a:srgbClr val="1E293B"/>
          </a:solidFill>
          <a:ln w="16510">
            <a:solidFill>
              <a:srgbClr val="A3E6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/>
          </a:p>
        </p:txBody>
      </p:sp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SOLUTION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Two Focused Modules</a:t>
            </a:r>
            <a:endParaRPr lang="en-US" sz="3000"/>
          </a:p>
        </p:txBody>
      </p:sp>
      <p:pic>
        <p:nvPicPr>
          <p:cNvPr id="4" name="Image 0" descr="icons/w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37944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76479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1207008" y="2293983"/>
            <a:ext cx="51206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Re-positions the paper for the venue – which contributions to foreground, plus a rewritten title, abstract and intro.</a:t>
            </a:r>
            <a:endParaRPr lang="en-US">
              <a:latin typeface="Assistant"/>
              <a:ea typeface="Calibri"/>
              <a:cs typeface="Assistant"/>
            </a:endParaRPr>
          </a:p>
        </p:txBody>
      </p:sp>
      <p:pic>
        <p:nvPicPr>
          <p:cNvPr id="7" name="Image 1" descr="icons/file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427984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335483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Format</a:t>
            </a:r>
            <a:endParaRPr lang="en-US" sz="2000"/>
          </a:p>
        </p:txBody>
      </p:sp>
      <p:sp>
        <p:nvSpPr>
          <p:cNvPr id="9" name="Text 5"/>
          <p:cNvSpPr/>
          <p:nvPr/>
        </p:nvSpPr>
        <p:spPr>
          <a:xfrm>
            <a:off x="1207008" y="3884023"/>
            <a:ext cx="51206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C</a:t>
            </a:r>
            <a:r>
              <a:rPr lang="en-US">
                <a:solidFill>
                  <a:srgbClr val="94A3B8"/>
                </a:solidFill>
                <a:latin typeface="Assistant"/>
                <a:cs typeface="Assistant"/>
              </a:rPr>
              <a:t>hecks the manuscript against the venue rules.</a:t>
            </a:r>
            <a:endParaRPr lang="en-US">
              <a:solidFill>
                <a:srgbClr val="94A3B8"/>
              </a:solidFill>
              <a:latin typeface="Assistant"/>
              <a:ea typeface="Calibri"/>
              <a:cs typeface="Assistant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7178040" y="22860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0"/>
          <p:cNvSpPr/>
          <p:nvPr/>
        </p:nvSpPr>
        <p:spPr>
          <a:xfrm>
            <a:off x="717804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Your paper</a:t>
            </a:r>
            <a:endParaRPr lang="en-US" sz="2000">
              <a:latin typeface="Assistant"/>
              <a:ea typeface="Calibri"/>
              <a:cs typeface="Calibri"/>
            </a:endParaRPr>
          </a:p>
        </p:txBody>
      </p:sp>
      <p:pic>
        <p:nvPicPr>
          <p:cNvPr id="16" name="Image 3" descr="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624328"/>
            <a:ext cx="502920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09760" y="2240280"/>
            <a:ext cx="16002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8" name="Image 4" descr="icons/w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2386584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09760" y="2834640"/>
            <a:ext cx="1600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b="1" err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ConfFit</a:t>
            </a:r>
            <a:endParaRPr lang="en-US">
              <a:latin typeface="Assistant"/>
              <a:ea typeface="Calibri"/>
              <a:cs typeface="Calibri"/>
            </a:endParaRPr>
          </a:p>
        </p:txBody>
      </p:sp>
      <p:pic>
        <p:nvPicPr>
          <p:cNvPr id="20" name="Image 5" descr="icons/arrowd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4788" y="3383280"/>
            <a:ext cx="256032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78040" y="3931920"/>
            <a:ext cx="3989527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>
                <a:solidFill>
                  <a:srgbClr val="94A3B8"/>
                </a:solidFill>
                <a:latin typeface="Assistant"/>
                <a:cs typeface="Assistant"/>
              </a:rPr>
              <a:t>Framing report + Format report</a:t>
            </a:r>
          </a:p>
        </p:txBody>
      </p:sp>
      <p:sp>
        <p:nvSpPr>
          <p:cNvPr id="24" name="Text 16"/>
          <p:cNvSpPr/>
          <p:nvPr/>
        </p:nvSpPr>
        <p:spPr>
          <a:xfrm>
            <a:off x="7178040" y="4709160"/>
            <a:ext cx="3989527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>
                <a:solidFill>
                  <a:srgbClr val="F1F5F9"/>
                </a:solidFill>
                <a:latin typeface="Assistant"/>
                <a:cs typeface="Assistant"/>
              </a:rPr>
              <a:t>One Fixed Manuscript</a:t>
            </a:r>
          </a:p>
        </p:txBody>
      </p:sp>
      <p:sp>
        <p:nvSpPr>
          <p:cNvPr id="25" name="Text 1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26" name="Text 18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 / 11</a:t>
            </a:r>
            <a:endParaRPr lang="en-US" sz="1000"/>
          </a:p>
        </p:txBody>
      </p:sp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8DA27744-9554-8011-1B2A-2B55CD489BAC}"/>
              </a:ext>
            </a:extLst>
          </p:cNvPr>
          <p:cNvSpPr txBox="1"/>
          <p:nvPr/>
        </p:nvSpPr>
        <p:spPr>
          <a:xfrm>
            <a:off x="566057" y="5577114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94A3B8"/>
                </a:solidFill>
                <a:latin typeface="Assistant"/>
                <a:ea typeface="Segoe UI"/>
                <a:cs typeface="Segoe UI"/>
              </a:rPr>
              <a:t>Both return a</a:t>
            </a:r>
            <a:r>
              <a:rPr lang="en-US" sz="1800" b="1" i="0" u="none" strike="noStrike" baseline="0">
                <a:solidFill>
                  <a:srgbClr val="94A3B8"/>
                </a:solidFill>
                <a:latin typeface="Assistant"/>
                <a:ea typeface="Segoe UI"/>
                <a:cs typeface="Segoe UI"/>
              </a:rPr>
              <a:t> suggestions </a:t>
            </a:r>
            <a:r>
              <a:rPr lang="en-US" b="1">
                <a:solidFill>
                  <a:srgbClr val="94A3B8"/>
                </a:solidFill>
                <a:latin typeface="Assistant"/>
                <a:ea typeface="Segoe UI"/>
                <a:cs typeface="Segoe UI"/>
              </a:rPr>
              <a:t>report, which is combined</a:t>
            </a:r>
            <a:br>
              <a:rPr lang="en-US" b="1">
                <a:solidFill>
                  <a:srgbClr val="94A3B8"/>
                </a:solidFill>
                <a:latin typeface="Assistant"/>
                <a:ea typeface="Segoe UI"/>
                <a:cs typeface="Segoe UI"/>
              </a:rPr>
            </a:br>
            <a:r>
              <a:rPr lang="en-US" b="1">
                <a:solidFill>
                  <a:srgbClr val="94A3B8"/>
                </a:solidFill>
                <a:latin typeface="Assistant"/>
                <a:ea typeface="Segoe UI"/>
                <a:cs typeface="Segoe UI"/>
              </a:rPr>
              <a:t>into a unified fixed version</a:t>
            </a:r>
            <a:r>
              <a:rPr lang="en-US" sz="1800" b="1" i="0" u="none" strike="noStrike" baseline="0">
                <a:solidFill>
                  <a:srgbClr val="94A3B8"/>
                </a:solidFill>
                <a:latin typeface="Assistant"/>
                <a:ea typeface="Segoe UI"/>
                <a:cs typeface="Segoe UI"/>
              </a:rPr>
              <a:t>.</a:t>
            </a:r>
            <a:r>
              <a:rPr sz="1800" b="1" i="0">
                <a:solidFill>
                  <a:srgbClr val="000000"/>
                </a:solidFill>
                <a:latin typeface="Assistant"/>
                <a:ea typeface="Assistant"/>
                <a:cs typeface="Assistant"/>
              </a:rPr>
              <a:t>​</a:t>
            </a:r>
            <a:endParaRPr lang="he-IL" b="1">
              <a:ea typeface="Calibri" panose="020F0502020204030204"/>
              <a:cs typeface="Arial"/>
            </a:endParaRPr>
          </a:p>
          <a:p>
            <a:pPr algn="ctr"/>
            <a:endParaRPr lang="he-I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ARCHITECTURE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Supervisor + Reflection and </a:t>
            </a:r>
            <a:r>
              <a:rPr lang="en-US" sz="3000" b="1" err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ReAct</a:t>
            </a:r>
            <a:r>
              <a:rPr lang="en-US" sz="30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 subagents</a:t>
            </a:r>
            <a:endParaRPr lang="en-US" sz="3000">
              <a:latin typeface="Assistant"/>
              <a:cs typeface="Assistan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03066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41248" y="1837944"/>
            <a:ext cx="295442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FF0000"/>
                </a:solidFill>
                <a:latin typeface="Assistant"/>
                <a:ea typeface="Assistant" pitchFamily="34" charset="-122"/>
                <a:cs typeface="Assistant"/>
              </a:rPr>
              <a:t>REJECTED AS TOP LEVEL</a:t>
            </a:r>
            <a:endParaRPr lang="en-US" sz="1050">
              <a:solidFill>
                <a:srgbClr val="FF0000"/>
              </a:solidFill>
              <a:latin typeface="Assistant"/>
              <a:ea typeface="Calibri"/>
              <a:cs typeface="Assistant"/>
            </a:endParaRPr>
          </a:p>
        </p:txBody>
      </p:sp>
      <p:pic>
        <p:nvPicPr>
          <p:cNvPr id="6" name="Image 0" descr="מחובר עם מילוי מלא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248" y="2109619"/>
            <a:ext cx="473590" cy="5023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2148840"/>
            <a:ext cx="249722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Single ReAct</a:t>
            </a:r>
            <a:endParaRPr lang="en-US" sz="1650"/>
          </a:p>
        </p:txBody>
      </p:sp>
      <p:sp>
        <p:nvSpPr>
          <p:cNvPr id="8" name="Text 5"/>
          <p:cNvSpPr/>
          <p:nvPr/>
        </p:nvSpPr>
        <p:spPr>
          <a:xfrm>
            <a:off x="841248" y="2651760"/>
            <a:ext cx="2954426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One flat loop mixes writing, checks and tools; every step logs as one module – weak trace.</a:t>
            </a:r>
            <a:endParaRPr lang="en-US" sz="1400">
              <a:latin typeface="Assistant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344314" y="1600200"/>
            <a:ext cx="3503066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4618634" y="1837944"/>
            <a:ext cx="2954426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FF0000"/>
                </a:solidFill>
                <a:latin typeface="Assistant"/>
                <a:ea typeface="Assistant" pitchFamily="34" charset="-122"/>
                <a:cs typeface="Assistant"/>
              </a:rPr>
              <a:t>REJECTED AS TOP LEVEL</a:t>
            </a:r>
            <a:endParaRPr lang="en-US" sz="1050">
              <a:solidFill>
                <a:srgbClr val="FF0000"/>
              </a:solidFill>
              <a:latin typeface="Assistant"/>
              <a:ea typeface="Calibri"/>
              <a:cs typeface="Calibri"/>
            </a:endParaRPr>
          </a:p>
        </p:txBody>
      </p:sp>
      <p:pic>
        <p:nvPicPr>
          <p:cNvPr id="11" name="Image 1" descr="רשימת פעולות לביצוע קו מיתא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747" y="2080864"/>
            <a:ext cx="545476" cy="5670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4122" y="2148840"/>
            <a:ext cx="249722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Plan-&amp;-Execute</a:t>
            </a:r>
            <a:endParaRPr lang="en-US" sz="1650"/>
          </a:p>
        </p:txBody>
      </p:sp>
      <p:sp>
        <p:nvSpPr>
          <p:cNvPr id="13" name="Text 9"/>
          <p:cNvSpPr/>
          <p:nvPr/>
        </p:nvSpPr>
        <p:spPr>
          <a:xfrm>
            <a:off x="4618634" y="2651760"/>
            <a:ext cx="2954426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Its strength is re-planning one evolving task. Here tasks are known upfront – a planner just adds cost.</a:t>
            </a:r>
            <a:endParaRPr lang="en-US" sz="1400">
              <a:latin typeface="Assistant"/>
              <a:ea typeface="Calibri"/>
              <a:cs typeface="Calibri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121701" y="1600200"/>
            <a:ext cx="3503066" cy="1965960"/>
          </a:xfrm>
          <a:prstGeom prst="roundRect">
            <a:avLst>
              <a:gd name="adj" fmla="val 4651"/>
            </a:avLst>
          </a:prstGeom>
          <a:solidFill>
            <a:srgbClr val="1E293B"/>
          </a:solidFill>
          <a:ln w="2032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8396021" y="1837944"/>
            <a:ext cx="29544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CHOSEN</a:t>
            </a:r>
            <a:endParaRPr lang="en-US" sz="1050"/>
          </a:p>
        </p:txBody>
      </p:sp>
      <p:pic>
        <p:nvPicPr>
          <p:cNvPr id="16" name="Image 2" descr="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6021" y="21671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71509" y="2148840"/>
            <a:ext cx="249722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Supervisor</a:t>
            </a:r>
            <a:endParaRPr lang="en-US" sz="1650"/>
          </a:p>
        </p:txBody>
      </p:sp>
      <p:sp>
        <p:nvSpPr>
          <p:cNvPr id="18" name="Text 13"/>
          <p:cNvSpPr/>
          <p:nvPr/>
        </p:nvSpPr>
        <p:spPr>
          <a:xfrm>
            <a:off x="8396021" y="2651760"/>
            <a:ext cx="2954426" cy="8046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Routes at runtime, monitors and merges. Ideal for coordinating venue-dependent tasks.</a:t>
            </a:r>
            <a:endParaRPr lang="en-US" sz="1400">
              <a:latin typeface="Assistant"/>
              <a:ea typeface="Calibri"/>
              <a:cs typeface="Assistant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66928" y="3782423"/>
            <a:ext cx="53917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mage 3" descr="icons/ro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4075031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35608" y="4114800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Reflection for framing</a:t>
            </a:r>
            <a:endParaRPr lang="en-US" sz="1700"/>
          </a:p>
        </p:txBody>
      </p:sp>
      <p:sp>
        <p:nvSpPr>
          <p:cNvPr id="22" name="Text 16"/>
          <p:cNvSpPr/>
          <p:nvPr/>
        </p:nvSpPr>
        <p:spPr>
          <a:xfrm>
            <a:off x="896112" y="4651103"/>
            <a:ext cx="4733392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8000"/>
              </a:lnSpc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Repositioning is a writing / judgement task.</a:t>
            </a:r>
            <a:b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</a:br>
            <a:r>
              <a:rPr lang="en-US" sz="14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Generate → Reflect →Repeat</a:t>
            </a: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 raises quality, capped at N≤2 to avoid stalling.</a:t>
            </a:r>
            <a:endParaRPr lang="en-US" sz="1400">
              <a:latin typeface="Assistant"/>
              <a:cs typeface="Assistant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6233008" y="3782423"/>
            <a:ext cx="53917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4" name="Image 4" descr="icons/bo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904" y="4075031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01688" y="4056743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ReAct for format</a:t>
            </a:r>
            <a:endParaRPr lang="en-US" sz="1700"/>
          </a:p>
        </p:txBody>
      </p:sp>
      <p:sp>
        <p:nvSpPr>
          <p:cNvPr id="26" name="Text 19"/>
          <p:cNvSpPr/>
          <p:nvPr/>
        </p:nvSpPr>
        <p:spPr>
          <a:xfrm>
            <a:off x="6562192" y="4651103"/>
            <a:ext cx="4733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Rule-checking is mostly </a:t>
            </a:r>
            <a:r>
              <a:rPr lang="en-US" sz="14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deterministic</a:t>
            </a:r>
            <a:r>
              <a:rPr lang="en-US" sz="14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; the agent reasons and calls a lookup tool only when a rule is ambiguous.</a:t>
            </a:r>
            <a:endParaRPr lang="en-US" sz="1400"/>
          </a:p>
        </p:txBody>
      </p:sp>
      <p:sp>
        <p:nvSpPr>
          <p:cNvPr id="27" name="Text 20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28" name="Text 21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 / 11</a:t>
            </a:r>
            <a:endParaRPr lang="en-US" sz="100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AD825966-F1FA-56E5-5D53-3BEBDBC0914E}"/>
              </a:ext>
            </a:extLst>
          </p:cNvPr>
          <p:cNvSpPr/>
          <p:nvPr/>
        </p:nvSpPr>
        <p:spPr>
          <a:xfrm>
            <a:off x="581442" y="5660572"/>
            <a:ext cx="11057839" cy="658368"/>
          </a:xfrm>
          <a:prstGeom prst="roundRect">
            <a:avLst>
              <a:gd name="adj" fmla="val 13889"/>
            </a:avLst>
          </a:prstGeom>
          <a:solidFill>
            <a:srgbClr val="1E293B"/>
          </a:solidFill>
          <a:ln w="20320">
            <a:solidFill>
              <a:srgbClr val="A3E635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/>
          </a:p>
        </p:txBody>
      </p:sp>
      <p:pic>
        <p:nvPicPr>
          <p:cNvPr id="30" name="Image 8">
            <a:extLst>
              <a:ext uri="{FF2B5EF4-FFF2-40B4-BE49-F238E27FC236}">
                <a16:creationId xmlns:a16="http://schemas.microsoft.com/office/drawing/2014/main" id="{B19926A0-EBBC-B9E5-F48D-C7404AE37D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762" y="5825164"/>
            <a:ext cx="329184" cy="329184"/>
          </a:xfrm>
          <a:prstGeom prst="rect">
            <a:avLst/>
          </a:prstGeom>
        </p:spPr>
      </p:pic>
      <p:sp>
        <p:nvSpPr>
          <p:cNvPr id="31" name="Text 21">
            <a:extLst>
              <a:ext uri="{FF2B5EF4-FFF2-40B4-BE49-F238E27FC236}">
                <a16:creationId xmlns:a16="http://schemas.microsoft.com/office/drawing/2014/main" id="{E8A64E5B-9590-7FED-1F0A-478CA31F6157}"/>
              </a:ext>
            </a:extLst>
          </p:cNvPr>
          <p:cNvSpPr/>
          <p:nvPr/>
        </p:nvSpPr>
        <p:spPr>
          <a:xfrm>
            <a:off x="1331250" y="5660572"/>
            <a:ext cx="10097719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UnifiedFixer  </a:t>
            </a: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applies the framing + format reports in one pass → </a:t>
            </a:r>
            <a:r>
              <a:rPr lang="en-US" sz="135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 single revised manuscript</a:t>
            </a:r>
            <a:endParaRPr lang="en-US"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11">
            <a:extLst>
              <a:ext uri="{FF2B5EF4-FFF2-40B4-BE49-F238E27FC236}">
                <a16:creationId xmlns:a16="http://schemas.microsoft.com/office/drawing/2014/main" id="{BC7A24E8-BD0B-4653-9DE4-3EDD22DE0434}"/>
              </a:ext>
            </a:extLst>
          </p:cNvPr>
          <p:cNvSpPr/>
          <p:nvPr/>
        </p:nvSpPr>
        <p:spPr>
          <a:xfrm>
            <a:off x="566927" y="3658760"/>
            <a:ext cx="11057751" cy="661852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SYSTEM DESIGN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System Topology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icons/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572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POST /execute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1298448" y="1883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user prompt</a:t>
            </a:r>
            <a:endParaRPr lang="en-US" sz="1100"/>
          </a:p>
        </p:txBody>
      </p:sp>
      <p:pic>
        <p:nvPicPr>
          <p:cNvPr id="8" name="Image 1" descr="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1755648"/>
            <a:ext cx="438912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453128" y="144475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1E293B"/>
          </a:solidFill>
          <a:ln w="1905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0" name="Image 2" descr="icons/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6916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84648" y="1572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Supervisor</a:t>
            </a:r>
            <a:endParaRPr lang="en-US" sz="1500"/>
          </a:p>
        </p:txBody>
      </p:sp>
      <p:sp>
        <p:nvSpPr>
          <p:cNvPr id="12" name="Text 7"/>
          <p:cNvSpPr/>
          <p:nvPr/>
        </p:nvSpPr>
        <p:spPr>
          <a:xfrm>
            <a:off x="5184648" y="1883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route · monitor · merge</a:t>
            </a:r>
            <a:endParaRPr lang="en-US" sz="1100"/>
          </a:p>
        </p:txBody>
      </p:sp>
      <p:pic>
        <p:nvPicPr>
          <p:cNvPr id="13" name="Image 3" descr="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1755648"/>
            <a:ext cx="438912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339328" y="1444752"/>
            <a:ext cx="3246120" cy="841248"/>
          </a:xfrm>
          <a:prstGeom prst="roundRect">
            <a:avLst>
              <a:gd name="adj" fmla="val 1087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4" descr="icons/ex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169164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070848" y="15727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response</a:t>
            </a:r>
            <a:endParaRPr lang="en-US" sz="1500"/>
          </a:p>
        </p:txBody>
      </p:sp>
      <p:sp>
        <p:nvSpPr>
          <p:cNvPr id="17" name="Text 10"/>
          <p:cNvSpPr/>
          <p:nvPr/>
        </p:nvSpPr>
        <p:spPr>
          <a:xfrm>
            <a:off x="9070848" y="188366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reports + fix + steps[]</a:t>
            </a:r>
            <a:endParaRPr lang="en-US" sz="1100"/>
          </a:p>
        </p:txBody>
      </p:sp>
      <p:sp>
        <p:nvSpPr>
          <p:cNvPr id="18" name="Shape 11"/>
          <p:cNvSpPr/>
          <p:nvPr/>
        </p:nvSpPr>
        <p:spPr>
          <a:xfrm>
            <a:off x="566928" y="2432304"/>
            <a:ext cx="3503066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9" name="Image 5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2633472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261518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ConferenceProfiler</a:t>
            </a:r>
            <a:endParaRPr lang="en-US" sz="1300"/>
          </a:p>
        </p:txBody>
      </p:sp>
      <p:sp>
        <p:nvSpPr>
          <p:cNvPr id="21" name="Text 13"/>
          <p:cNvSpPr/>
          <p:nvPr/>
        </p:nvSpPr>
        <p:spPr>
          <a:xfrm>
            <a:off x="822960" y="3017520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ReAct + RAG (no cache) over the CFP &amp; past papers.</a:t>
            </a:r>
            <a:endParaRPr lang="en-US" sz="1200"/>
          </a:p>
        </p:txBody>
      </p:sp>
      <p:sp>
        <p:nvSpPr>
          <p:cNvPr id="22" name="Shape 14"/>
          <p:cNvSpPr/>
          <p:nvPr/>
        </p:nvSpPr>
        <p:spPr>
          <a:xfrm>
            <a:off x="4344314" y="2432304"/>
            <a:ext cx="3503066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3" name="Image 6" descr="icons/w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2058" y="263347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66106" y="261518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FramingAgent</a:t>
            </a:r>
            <a:endParaRPr lang="en-US" sz="1300"/>
          </a:p>
        </p:txBody>
      </p:sp>
      <p:sp>
        <p:nvSpPr>
          <p:cNvPr id="25" name="Text 16"/>
          <p:cNvSpPr/>
          <p:nvPr/>
        </p:nvSpPr>
        <p:spPr>
          <a:xfrm>
            <a:off x="4600346" y="3017520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Reflection loop → </a:t>
            </a:r>
            <a:r>
              <a:rPr lang="en-US" sz="12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 report</a:t>
            </a:r>
            <a:r>
              <a:rPr lang="en-US" sz="12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</a:t>
            </a:r>
            <a:endParaRPr lang="en-US" sz="1200"/>
          </a:p>
        </p:txBody>
      </p:sp>
      <p:sp>
        <p:nvSpPr>
          <p:cNvPr id="26" name="Shape 17"/>
          <p:cNvSpPr/>
          <p:nvPr/>
        </p:nvSpPr>
        <p:spPr>
          <a:xfrm>
            <a:off x="8121701" y="2432304"/>
            <a:ext cx="3503066" cy="109728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7" name="Image 7" descr="icons/file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445" y="2633472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743493" y="2615184"/>
            <a:ext cx="2753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FormatComplianceAgent</a:t>
            </a:r>
            <a:endParaRPr lang="en-US" sz="1300"/>
          </a:p>
        </p:txBody>
      </p:sp>
      <p:sp>
        <p:nvSpPr>
          <p:cNvPr id="29" name="Text 19"/>
          <p:cNvSpPr/>
          <p:nvPr/>
        </p:nvSpPr>
        <p:spPr>
          <a:xfrm>
            <a:off x="8377733" y="3017520"/>
            <a:ext cx="2991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ReAct checks → </a:t>
            </a:r>
            <a:r>
              <a:rPr lang="en-US" sz="12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format report</a:t>
            </a:r>
            <a:r>
              <a:rPr lang="en-US" sz="12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.</a:t>
            </a:r>
            <a:endParaRPr lang="en-US" sz="1200"/>
          </a:p>
        </p:txBody>
      </p:sp>
      <p:pic>
        <p:nvPicPr>
          <p:cNvPr id="31" name="Image 8" descr="icons/file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" y="3822192"/>
            <a:ext cx="329184" cy="32918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316736" y="3657600"/>
            <a:ext cx="10097719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UnifiedFixer  </a:t>
            </a:r>
            <a:r>
              <a:rPr lang="en-US" sz="135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— applies the framing + format reports in one pass → </a:t>
            </a:r>
            <a:r>
              <a:rPr lang="en-US" sz="1350" b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a single revised manuscript</a:t>
            </a:r>
            <a:endParaRPr lang="en-US" sz="1350">
              <a:latin typeface="Assistant"/>
              <a:ea typeface="Calibri" panose="020F0502020204030204"/>
              <a:cs typeface="Calibri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566928" y="4498848"/>
            <a:ext cx="3503066" cy="868680"/>
          </a:xfrm>
          <a:prstGeom prst="roundRect">
            <a:avLst>
              <a:gd name="adj" fmla="val 10526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4" name="Image 9" descr="icons/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672" y="4754880"/>
            <a:ext cx="329184" cy="32918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243584" y="4636008"/>
            <a:ext cx="26343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Pinecone</a:t>
            </a:r>
            <a:endParaRPr lang="en-US" sz="1400"/>
          </a:p>
        </p:txBody>
      </p:sp>
      <p:sp>
        <p:nvSpPr>
          <p:cNvPr id="36" name="Text 24"/>
          <p:cNvSpPr/>
          <p:nvPr/>
        </p:nvSpPr>
        <p:spPr>
          <a:xfrm>
            <a:off x="1243584" y="4946904"/>
            <a:ext cx="26343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knowledge base (RAG)</a:t>
            </a:r>
            <a:endParaRPr lang="en-US" sz="1100"/>
          </a:p>
        </p:txBody>
      </p:sp>
      <p:sp>
        <p:nvSpPr>
          <p:cNvPr id="37" name="Shape 25"/>
          <p:cNvSpPr/>
          <p:nvPr/>
        </p:nvSpPr>
        <p:spPr>
          <a:xfrm>
            <a:off x="4344314" y="4498848"/>
            <a:ext cx="3503066" cy="868680"/>
          </a:xfrm>
          <a:prstGeom prst="roundRect">
            <a:avLst>
              <a:gd name="adj" fmla="val 10526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8" name="Image 10" descr="icons/datab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2058" y="4754880"/>
            <a:ext cx="329184" cy="32918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020970" y="4636008"/>
            <a:ext cx="26343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Supabase</a:t>
            </a:r>
            <a:endParaRPr lang="en-US" sz="1400"/>
          </a:p>
        </p:txBody>
      </p:sp>
      <p:sp>
        <p:nvSpPr>
          <p:cNvPr id="40" name="Text 27"/>
          <p:cNvSpPr/>
          <p:nvPr/>
        </p:nvSpPr>
        <p:spPr>
          <a:xfrm>
            <a:off x="5020970" y="4946904"/>
            <a:ext cx="26343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run / session state</a:t>
            </a:r>
            <a:endParaRPr lang="en-US" sz="1100"/>
          </a:p>
        </p:txBody>
      </p:sp>
      <p:sp>
        <p:nvSpPr>
          <p:cNvPr id="41" name="Shape 28"/>
          <p:cNvSpPr/>
          <p:nvPr/>
        </p:nvSpPr>
        <p:spPr>
          <a:xfrm>
            <a:off x="8121701" y="4498848"/>
            <a:ext cx="3503066" cy="868680"/>
          </a:xfrm>
          <a:prstGeom prst="roundRect">
            <a:avLst>
              <a:gd name="adj" fmla="val 10526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2" name="Image 11" descr="icons/plu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9445" y="4754880"/>
            <a:ext cx="329184" cy="329184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8798357" y="4636008"/>
            <a:ext cx="263438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MCP Tools</a:t>
            </a:r>
            <a:endParaRPr lang="en-US" sz="1400"/>
          </a:p>
        </p:txBody>
      </p:sp>
      <p:sp>
        <p:nvSpPr>
          <p:cNvPr id="44" name="Text 30"/>
          <p:cNvSpPr/>
          <p:nvPr/>
        </p:nvSpPr>
        <p:spPr>
          <a:xfrm>
            <a:off x="8798357" y="4946904"/>
            <a:ext cx="263438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web_search · fetch · lookup</a:t>
            </a:r>
            <a:endParaRPr lang="en-US" sz="1100"/>
          </a:p>
        </p:txBody>
      </p:sp>
      <p:sp>
        <p:nvSpPr>
          <p:cNvPr id="45" name="Text 3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46" name="Text 3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05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73087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WORKERS · PART 1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Conference Profiler &amp; Safe RAG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176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4825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2011680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ConferenceProfiler</a:t>
            </a:r>
            <a:endParaRPr lang="en-US" sz="1900"/>
          </a:p>
        </p:txBody>
      </p:sp>
      <p:sp>
        <p:nvSpPr>
          <p:cNvPr id="7" name="Text 4"/>
          <p:cNvSpPr/>
          <p:nvPr/>
        </p:nvSpPr>
        <p:spPr>
          <a:xfrm>
            <a:off x="932688" y="2606040"/>
            <a:ext cx="4660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err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ReAct</a:t>
            </a:r>
            <a:r>
              <a:rPr lang="en-US" sz="1300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 + RAG – a structured venue profile.</a:t>
            </a:r>
            <a:endParaRPr lang="en-US" sz="1300">
              <a:latin typeface="Assistant"/>
              <a:cs typeface="Assistant"/>
            </a:endParaRPr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363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3063240"/>
            <a:ext cx="434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RAG-grounded: retrieves the CFP &amp; past papers from Pinecone.</a:t>
            </a:r>
            <a:endParaRPr lang="en-US" sz="1350"/>
          </a:p>
        </p:txBody>
      </p:sp>
      <p:pic>
        <p:nvPicPr>
          <p:cNvPr id="10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5818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16736" y="3685032"/>
            <a:ext cx="434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Profiles scope, tracks and what the venue rewards.</a:t>
            </a:r>
            <a:endParaRPr lang="en-US" sz="1350"/>
          </a:p>
        </p:txBody>
      </p:sp>
      <p:pic>
        <p:nvPicPr>
          <p:cNvPr id="12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7997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16736" y="4306824"/>
            <a:ext cx="434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Captures accepted-paper emphasis — the biggest fit driver.</a:t>
            </a:r>
            <a:endParaRPr lang="en-US" sz="1350"/>
          </a:p>
        </p:txBody>
      </p:sp>
      <p:pic>
        <p:nvPicPr>
          <p:cNvPr id="14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001768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16736" y="4928616"/>
            <a:ext cx="434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Extracts submission/format rules for the format check.</a:t>
            </a:r>
            <a:endParaRPr lang="en-US" sz="1350"/>
          </a:p>
        </p:txBody>
      </p:sp>
      <p:sp>
        <p:nvSpPr>
          <p:cNvPr id="16" name="Shape 9"/>
          <p:cNvSpPr/>
          <p:nvPr/>
        </p:nvSpPr>
        <p:spPr>
          <a:xfrm>
            <a:off x="6233008" y="1737360"/>
            <a:ext cx="5391760" cy="3840480"/>
          </a:xfrm>
          <a:prstGeom prst="roundRect">
            <a:avLst>
              <a:gd name="adj" fmla="val 2381"/>
            </a:avLst>
          </a:prstGeom>
          <a:solidFill>
            <a:srgbClr val="1E293B"/>
          </a:solidFill>
          <a:ln w="1778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5" descr="icons/shield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192" y="2048256"/>
            <a:ext cx="420624" cy="42062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147408" y="2011680"/>
            <a:ext cx="429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Safe-RAG Guardrail</a:t>
            </a:r>
            <a:endParaRPr lang="en-US" sz="1900"/>
          </a:p>
        </p:txBody>
      </p:sp>
      <p:sp>
        <p:nvSpPr>
          <p:cNvPr id="19" name="Text 11"/>
          <p:cNvSpPr/>
          <p:nvPr/>
        </p:nvSpPr>
        <p:spPr>
          <a:xfrm>
            <a:off x="6598768" y="2606040"/>
            <a:ext cx="466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F4444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Unknown venue? Nothing is added silently.</a:t>
            </a:r>
            <a:endParaRPr lang="en-US" sz="1300"/>
          </a:p>
        </p:txBody>
      </p:sp>
      <p:sp>
        <p:nvSpPr>
          <p:cNvPr id="20" name="Shape 12"/>
          <p:cNvSpPr/>
          <p:nvPr/>
        </p:nvSpPr>
        <p:spPr>
          <a:xfrm>
            <a:off x="6617056" y="31546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3"/>
          <p:cNvSpPr/>
          <p:nvPr/>
        </p:nvSpPr>
        <p:spPr>
          <a:xfrm>
            <a:off x="661705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</a:t>
            </a:r>
            <a:endParaRPr lang="en-US" sz="1600"/>
          </a:p>
        </p:txBody>
      </p:sp>
      <p:sp>
        <p:nvSpPr>
          <p:cNvPr id="22" name="Text 14"/>
          <p:cNvSpPr/>
          <p:nvPr/>
        </p:nvSpPr>
        <p:spPr>
          <a:xfrm>
            <a:off x="7238848" y="3099816"/>
            <a:ext cx="402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Not in RAG
</a:t>
            </a: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the venue isn’t in the knowledge base yet</a:t>
            </a:r>
            <a:endParaRPr lang="en-US" sz="1350"/>
          </a:p>
        </p:txBody>
      </p:sp>
      <p:pic>
        <p:nvPicPr>
          <p:cNvPr id="23" name="Image 6" descr="icons/arrowd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648" y="3648456"/>
            <a:ext cx="146304" cy="27432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617056" y="395935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16"/>
          <p:cNvSpPr/>
          <p:nvPr/>
        </p:nvSpPr>
        <p:spPr>
          <a:xfrm>
            <a:off x="6617056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2</a:t>
            </a:r>
            <a:endParaRPr lang="en-US" sz="1600"/>
          </a:p>
        </p:txBody>
      </p:sp>
      <p:sp>
        <p:nvSpPr>
          <p:cNvPr id="26" name="Text 17"/>
          <p:cNvSpPr/>
          <p:nvPr/>
        </p:nvSpPr>
        <p:spPr>
          <a:xfrm>
            <a:off x="7238848" y="3904488"/>
            <a:ext cx="402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Ask the user
</a:t>
            </a: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pause &amp; propose the CFP link to add</a:t>
            </a:r>
            <a:endParaRPr lang="en-US" sz="1350"/>
          </a:p>
        </p:txBody>
      </p:sp>
      <p:pic>
        <p:nvPicPr>
          <p:cNvPr id="27" name="Image 7" descr="icons/arrowdow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648" y="4453128"/>
            <a:ext cx="146304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6617056" y="4764024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Text 19"/>
          <p:cNvSpPr/>
          <p:nvPr/>
        </p:nvSpPr>
        <p:spPr>
          <a:xfrm>
            <a:off x="6617056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3</a:t>
            </a:r>
            <a:endParaRPr lang="en-US" sz="1600"/>
          </a:p>
        </p:txBody>
      </p:sp>
      <p:sp>
        <p:nvSpPr>
          <p:cNvPr id="30" name="Text 20"/>
          <p:cNvSpPr/>
          <p:nvPr/>
        </p:nvSpPr>
        <p:spPr>
          <a:xfrm>
            <a:off x="7238848" y="4709160"/>
            <a:ext cx="402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On “yes”
</a:t>
            </a:r>
            <a:r>
              <a:rPr lang="en-US" sz="135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fetch, embed &amp; store for next time</a:t>
            </a:r>
            <a:endParaRPr lang="en-US" sz="1350"/>
          </a:p>
        </p:txBody>
      </p:sp>
      <p:sp>
        <p:nvSpPr>
          <p:cNvPr id="31" name="Text 2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32" name="Text 2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06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61779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WORKERS · PART 2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Framing, Format &amp; Unified Fix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39176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1778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icons/w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9888" y="1847088"/>
            <a:ext cx="438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FramingAgent · Reflection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932688" y="2359152"/>
            <a:ext cx="4660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Generate → Reflect → Repeat (N ≤ 2).</a:t>
            </a:r>
            <a:endParaRPr lang="en-US" sz="1400">
              <a:latin typeface="Assistant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2688" y="2651760"/>
            <a:ext cx="4660240" cy="676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Proposes repositioning + a rewritten abstract, self-critiques vs. the profile → </a:t>
            </a:r>
            <a:r>
              <a:rPr lang="en-US" sz="14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a framing report</a:t>
            </a: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.</a:t>
            </a:r>
            <a:endParaRPr lang="en-US" sz="1400">
              <a:latin typeface="Assistant"/>
              <a:ea typeface="Calibri"/>
              <a:cs typeface="Assistan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33008" y="1627632"/>
            <a:ext cx="5391760" cy="1783080"/>
          </a:xfrm>
          <a:prstGeom prst="roundRect">
            <a:avLst>
              <a:gd name="adj" fmla="val 5128"/>
            </a:avLst>
          </a:prstGeom>
          <a:solidFill>
            <a:srgbClr val="1E293B"/>
          </a:solidFill>
          <a:ln w="1778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0" name="Image 1" descr="icons/file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904" y="18653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55968" y="1847088"/>
            <a:ext cx="4385920" cy="420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err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FormatComplianceAgent</a:t>
            </a:r>
            <a:r>
              <a:rPr lang="en-US" sz="16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 · </a:t>
            </a:r>
            <a:r>
              <a:rPr lang="en-US" sz="1600" b="1" err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ReAct</a:t>
            </a:r>
            <a:endParaRPr lang="en-US" sz="1600" err="1">
              <a:solidFill>
                <a:srgbClr val="000000"/>
              </a:solidFill>
              <a:latin typeface="Assistant"/>
              <a:ea typeface="Assistant" pitchFamily="34" charset="-122"/>
              <a:cs typeface="Assistant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598768" y="2359152"/>
            <a:ext cx="46602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Deterministic checks.</a:t>
            </a:r>
            <a:endParaRPr lang="en-US" sz="1400">
              <a:latin typeface="Assistant"/>
              <a:ea typeface="Calibri"/>
              <a:cs typeface="Assistant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98768" y="2651760"/>
            <a:ext cx="4660240" cy="6766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Per-rule checklist — style · page limits · template · anonymity → </a:t>
            </a:r>
            <a:r>
              <a:rPr lang="en-US" sz="14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a format report</a:t>
            </a:r>
            <a:r>
              <a:rPr lang="en-US" sz="1400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.</a:t>
            </a:r>
            <a:endParaRPr lang="en-US" sz="1400">
              <a:latin typeface="Assistant"/>
              <a:ea typeface="Calibri"/>
              <a:cs typeface="Assistant"/>
            </a:endParaRPr>
          </a:p>
        </p:txBody>
      </p:sp>
      <p:pic>
        <p:nvPicPr>
          <p:cNvPr id="14" name="Image 2" descr="icons/arrow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368" y="3429000"/>
            <a:ext cx="182880" cy="256032"/>
          </a:xfrm>
          <a:prstGeom prst="rect">
            <a:avLst/>
          </a:prstGeom>
        </p:spPr>
      </p:pic>
      <p:pic>
        <p:nvPicPr>
          <p:cNvPr id="15" name="Image 3" descr="icons/arrow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447" y="3429000"/>
            <a:ext cx="182880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66928" y="3721608"/>
            <a:ext cx="11057839" cy="1874520"/>
          </a:xfrm>
          <a:prstGeom prst="roundRect">
            <a:avLst>
              <a:gd name="adj" fmla="val 4878"/>
            </a:avLst>
          </a:prstGeom>
          <a:solidFill>
            <a:srgbClr val="1E293B"/>
          </a:solidFill>
          <a:ln w="2159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4" descr="icons/file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959352"/>
            <a:ext cx="402336" cy="40233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5608" y="394106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UnifiedFixer</a:t>
            </a:r>
            <a:endParaRPr lang="en-US" sz="1800"/>
          </a:p>
        </p:txBody>
      </p:sp>
      <p:sp>
        <p:nvSpPr>
          <p:cNvPr id="19" name="Text 12"/>
          <p:cNvSpPr/>
          <p:nvPr/>
        </p:nvSpPr>
        <p:spPr>
          <a:xfrm>
            <a:off x="1435608" y="4306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Both reports → one coherent revision, in a single pass.</a:t>
            </a:r>
            <a:endParaRPr lang="en-US" sz="1300"/>
          </a:p>
        </p:txBody>
      </p:sp>
      <p:sp>
        <p:nvSpPr>
          <p:cNvPr id="20" name="Shape 13"/>
          <p:cNvSpPr/>
          <p:nvPr/>
        </p:nvSpPr>
        <p:spPr>
          <a:xfrm>
            <a:off x="1024128" y="4654296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4"/>
          <p:cNvSpPr/>
          <p:nvPr/>
        </p:nvSpPr>
        <p:spPr>
          <a:xfrm>
            <a:off x="1024128" y="465429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Framing report</a:t>
            </a:r>
            <a:endParaRPr lang="en-US" sz="1250"/>
          </a:p>
        </p:txBody>
      </p:sp>
      <p:sp>
        <p:nvSpPr>
          <p:cNvPr id="22" name="Text 15"/>
          <p:cNvSpPr/>
          <p:nvPr/>
        </p:nvSpPr>
        <p:spPr>
          <a:xfrm>
            <a:off x="3493008" y="465429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+</a:t>
            </a:r>
            <a:endParaRPr lang="en-US" sz="1800"/>
          </a:p>
        </p:txBody>
      </p:sp>
      <p:sp>
        <p:nvSpPr>
          <p:cNvPr id="23" name="Shape 16"/>
          <p:cNvSpPr/>
          <p:nvPr/>
        </p:nvSpPr>
        <p:spPr>
          <a:xfrm>
            <a:off x="3950208" y="4654296"/>
            <a:ext cx="2468880" cy="548640"/>
          </a:xfrm>
          <a:prstGeom prst="roundRect">
            <a:avLst>
              <a:gd name="adj" fmla="val 16667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17"/>
          <p:cNvSpPr/>
          <p:nvPr/>
        </p:nvSpPr>
        <p:spPr>
          <a:xfrm>
            <a:off x="3950208" y="4654296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Format report</a:t>
            </a:r>
            <a:endParaRPr lang="en-US" sz="1250"/>
          </a:p>
        </p:txBody>
      </p:sp>
      <p:pic>
        <p:nvPicPr>
          <p:cNvPr id="25" name="Image 5" descr="icons/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2299" y="4818888"/>
            <a:ext cx="406401" cy="219456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075860" y="4654296"/>
            <a:ext cx="4367479" cy="541383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7780">
            <a:solidFill>
              <a:srgbClr val="A3E63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19"/>
          <p:cNvSpPr/>
          <p:nvPr/>
        </p:nvSpPr>
        <p:spPr>
          <a:xfrm>
            <a:off x="7068603" y="4654296"/>
            <a:ext cx="4294907" cy="541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 One revised manuscript, ready to submit</a:t>
            </a:r>
            <a:endParaRPr lang="en-US" sz="1300">
              <a:latin typeface="Assistant"/>
              <a:cs typeface="Assistant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30" name="Text 2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07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3802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IMPACT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Time &amp; Accuracy Gains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60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6278728" y="1691640"/>
            <a:ext cx="5346040" cy="356616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6" name="Image 0" descr="icons/hourg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6736" y="1947672"/>
            <a:ext cx="44316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F1F5F9"/>
                </a:solidFill>
                <a:latin typeface="Assistant"/>
                <a:ea typeface="Assistant" pitchFamily="34" charset="-122"/>
                <a:cs typeface="Assistant"/>
              </a:rPr>
              <a:t>Time per re-submission (approx. days)</a:t>
            </a:r>
            <a:endParaRPr lang="en-US" sz="1500">
              <a:latin typeface="Assistant"/>
              <a:cs typeface="Assistant"/>
            </a:endParaRPr>
          </a:p>
        </p:txBody>
      </p:sp>
      <p:pic>
        <p:nvPicPr>
          <p:cNvPr id="8" name="Image 1" descr="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24" y="19659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28536" y="1947672"/>
            <a:ext cx="443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Venue framing / format fit (%)</a:t>
            </a:r>
            <a:endParaRPr lang="en-US" sz="1500"/>
          </a:p>
        </p:txBody>
      </p:sp>
      <p:graphicFrame>
        <p:nvGraphicFramePr>
          <p:cNvPr id="10" name="Chart 0"/>
          <p:cNvGraphicFramePr/>
          <p:nvPr/>
        </p:nvGraphicFramePr>
        <p:xfrm>
          <a:off x="886968" y="2560320"/>
          <a:ext cx="4705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6598768" y="2560320"/>
          <a:ext cx="47059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 6"/>
          <p:cNvSpPr/>
          <p:nvPr/>
        </p:nvSpPr>
        <p:spPr>
          <a:xfrm>
            <a:off x="566928" y="539496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Illustrative planning estimates — to be validated against a labeled sample of submissions.</a:t>
            </a:r>
            <a:endParaRPr lang="en-US" sz="1150"/>
          </a:p>
        </p:txBody>
      </p:sp>
      <p:sp>
        <p:nvSpPr>
          <p:cNvPr id="13" name="Text 7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14" name="Text 8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08 / 11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UNDER THE HOOD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Data &amp; Tooling Layer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1760" cy="1810512"/>
          </a:xfrm>
          <a:prstGeom prst="roundRect">
            <a:avLst>
              <a:gd name="adj" fmla="val 50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5" name="Image 0" descr="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4767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911096"/>
            <a:ext cx="434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Intelligence</a:t>
            </a:r>
            <a:endParaRPr lang="en-US" sz="1700"/>
          </a:p>
        </p:txBody>
      </p:sp>
      <p:sp>
        <p:nvSpPr>
          <p:cNvPr id="7" name="Text 4"/>
          <p:cNvSpPr/>
          <p:nvPr/>
        </p:nvSpPr>
        <p:spPr>
          <a:xfrm>
            <a:off x="932688" y="2532888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gpt-5.4-mini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all agent reasoning &amp; generation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932688" y="2990088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embed-3-small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turns CFP text into searchable vectors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6233008" y="1691640"/>
            <a:ext cx="5391760" cy="1810512"/>
          </a:xfrm>
          <a:prstGeom prst="roundRect">
            <a:avLst>
              <a:gd name="adj" fmla="val 50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0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192" y="19476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01688" y="1911096"/>
            <a:ext cx="434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Storage</a:t>
            </a:r>
            <a:endParaRPr lang="en-US" sz="1700"/>
          </a:p>
        </p:txBody>
      </p:sp>
      <p:sp>
        <p:nvSpPr>
          <p:cNvPr id="12" name="Text 8"/>
          <p:cNvSpPr/>
          <p:nvPr/>
        </p:nvSpPr>
        <p:spPr>
          <a:xfrm>
            <a:off x="6598768" y="2532888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Pinecone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the knowledge base — RAG over CFP &amp; papers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6598768" y="2990088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Supabase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run / session state &amp; memory</a:t>
            </a:r>
            <a:endParaRPr lang="en-US" sz="1300"/>
          </a:p>
        </p:txBody>
      </p:sp>
      <p:sp>
        <p:nvSpPr>
          <p:cNvPr id="14" name="Shape 10"/>
          <p:cNvSpPr/>
          <p:nvPr/>
        </p:nvSpPr>
        <p:spPr>
          <a:xfrm>
            <a:off x="566928" y="3776472"/>
            <a:ext cx="5391760" cy="1810512"/>
          </a:xfrm>
          <a:prstGeom prst="roundRect">
            <a:avLst>
              <a:gd name="adj" fmla="val 50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2" descr="icons/pl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03250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35608" y="3995928"/>
            <a:ext cx="434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Access (tools)</a:t>
            </a:r>
            <a:endParaRPr lang="en-US" sz="1700"/>
          </a:p>
        </p:txBody>
      </p:sp>
      <p:sp>
        <p:nvSpPr>
          <p:cNvPr id="17" name="Text 12"/>
          <p:cNvSpPr/>
          <p:nvPr/>
        </p:nvSpPr>
        <p:spPr>
          <a:xfrm>
            <a:off x="932688" y="4617720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web_fetch / search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reads the venue’s Call-for-Papers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932688" y="5074920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rules_lookup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pulls formatting &amp; submission rules</a:t>
            </a:r>
            <a:endParaRPr lang="en-US" sz="1300"/>
          </a:p>
        </p:txBody>
      </p:sp>
      <p:sp>
        <p:nvSpPr>
          <p:cNvPr id="19" name="Shape 14"/>
          <p:cNvSpPr/>
          <p:nvPr/>
        </p:nvSpPr>
        <p:spPr>
          <a:xfrm>
            <a:off x="6233008" y="3776472"/>
            <a:ext cx="5391760" cy="1810512"/>
          </a:xfrm>
          <a:prstGeom prst="roundRect">
            <a:avLst>
              <a:gd name="adj" fmla="val 505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0" name="Image 3" descr="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2192" y="4032504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01688" y="3995928"/>
            <a:ext cx="434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Runtime</a:t>
            </a:r>
            <a:endParaRPr lang="en-US" sz="1700"/>
          </a:p>
        </p:txBody>
      </p:sp>
      <p:sp>
        <p:nvSpPr>
          <p:cNvPr id="22" name="Text 16"/>
          <p:cNvSpPr/>
          <p:nvPr/>
        </p:nvSpPr>
        <p:spPr>
          <a:xfrm>
            <a:off x="6598768" y="4617720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Vercel (serverless)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hosts the API endpoints</a:t>
            </a:r>
            <a:endParaRPr lang="en-US" sz="1300"/>
          </a:p>
        </p:txBody>
      </p:sp>
      <p:sp>
        <p:nvSpPr>
          <p:cNvPr id="23" name="Text 17"/>
          <p:cNvSpPr/>
          <p:nvPr/>
        </p:nvSpPr>
        <p:spPr>
          <a:xfrm>
            <a:off x="6598768" y="5074920"/>
            <a:ext cx="466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limits  </a:t>
            </a:r>
            <a:r>
              <a:rPr lang="en-US" sz="13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—  ≤ 300s per call · $13 total budget</a:t>
            </a:r>
            <a:endParaRPr lang="en-US" sz="1300"/>
          </a:p>
        </p:txBody>
      </p:sp>
      <p:sp>
        <p:nvSpPr>
          <p:cNvPr id="24" name="Text 18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25" name="Text 19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09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81302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TRACEABILITY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66928" y="77724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Execution Sequence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11057839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5000"/>
              </a:lnSpc>
              <a:buNone/>
            </a:pPr>
            <a:endParaRPr lang="en-US" sz="1500">
              <a:solidFill>
                <a:srgbClr val="94A3B8"/>
              </a:solidFill>
              <a:latin typeface="Assistant"/>
              <a:cs typeface="Assistant"/>
            </a:endParaRPr>
          </a:p>
        </p:txBody>
      </p:sp>
      <p:grpSp>
        <p:nvGrpSpPr>
          <p:cNvPr id="35" name="קבוצה 34">
            <a:extLst>
              <a:ext uri="{FF2B5EF4-FFF2-40B4-BE49-F238E27FC236}">
                <a16:creationId xmlns:a16="http://schemas.microsoft.com/office/drawing/2014/main" id="{A94683BC-FE3C-0679-68A4-261BAABAC970}"/>
              </a:ext>
            </a:extLst>
          </p:cNvPr>
          <p:cNvGrpSpPr/>
          <p:nvPr/>
        </p:nvGrpSpPr>
        <p:grpSpPr>
          <a:xfrm>
            <a:off x="411480" y="2200656"/>
            <a:ext cx="11430000" cy="1490472"/>
            <a:chOff x="411480" y="2505456"/>
            <a:chExt cx="11430000" cy="1490472"/>
          </a:xfrm>
        </p:grpSpPr>
        <p:sp>
          <p:nvSpPr>
            <p:cNvPr id="5" name="Shape 3"/>
            <p:cNvSpPr/>
            <p:nvPr/>
          </p:nvSpPr>
          <p:spPr>
            <a:xfrm>
              <a:off x="1325880" y="2788920"/>
              <a:ext cx="960120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6" name="Shape 4"/>
            <p:cNvSpPr/>
            <p:nvPr/>
          </p:nvSpPr>
          <p:spPr>
            <a:xfrm>
              <a:off x="1042416" y="2505456"/>
              <a:ext cx="566928" cy="566928"/>
            </a:xfrm>
            <a:prstGeom prst="ellipse">
              <a:avLst/>
            </a:prstGeom>
            <a:solidFill>
              <a:srgbClr val="A3E635"/>
            </a:solidFill>
            <a:ln/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7" name="Text 5"/>
            <p:cNvSpPr/>
            <p:nvPr/>
          </p:nvSpPr>
          <p:spPr>
            <a:xfrm>
              <a:off x="1042416" y="2505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0F172A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1</a:t>
              </a:r>
              <a:endParaRPr lang="en-US" sz="2400"/>
            </a:p>
          </p:txBody>
        </p:sp>
        <p:sp>
          <p:nvSpPr>
            <p:cNvPr id="8" name="Text 6"/>
            <p:cNvSpPr/>
            <p:nvPr/>
          </p:nvSpPr>
          <p:spPr>
            <a:xfrm>
              <a:off x="41148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Supervisor</a:t>
              </a:r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41148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reads prompt, routes</a:t>
              </a:r>
              <a:endParaRPr lang="en-US" sz="1600"/>
            </a:p>
          </p:txBody>
        </p:sp>
        <p:sp>
          <p:nvSpPr>
            <p:cNvPr id="10" name="Shape 8"/>
            <p:cNvSpPr/>
            <p:nvPr/>
          </p:nvSpPr>
          <p:spPr>
            <a:xfrm>
              <a:off x="2962656" y="2505456"/>
              <a:ext cx="566928" cy="566928"/>
            </a:xfrm>
            <a:prstGeom prst="ellipse">
              <a:avLst/>
            </a:prstGeom>
            <a:solidFill>
              <a:srgbClr val="1E293B"/>
            </a:solidFill>
            <a:ln w="25400">
              <a:solidFill>
                <a:srgbClr val="A3E635"/>
              </a:solidFill>
              <a:prstDash val="solid"/>
            </a:ln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11" name="Text 9"/>
            <p:cNvSpPr/>
            <p:nvPr/>
          </p:nvSpPr>
          <p:spPr>
            <a:xfrm>
              <a:off x="2962656" y="2505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A3E635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2</a:t>
              </a:r>
              <a:endParaRPr lang="en-US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233172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Profiler</a:t>
              </a:r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233172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RAG lookup</a:t>
              </a:r>
              <a:endParaRPr lang="en-US" sz="1600"/>
            </a:p>
          </p:txBody>
        </p:sp>
        <p:sp>
          <p:nvSpPr>
            <p:cNvPr id="14" name="Shape 12"/>
            <p:cNvSpPr/>
            <p:nvPr/>
          </p:nvSpPr>
          <p:spPr>
            <a:xfrm>
              <a:off x="4882896" y="2505456"/>
              <a:ext cx="566928" cy="566928"/>
            </a:xfrm>
            <a:prstGeom prst="ellipse">
              <a:avLst/>
            </a:prstGeom>
            <a:solidFill>
              <a:srgbClr val="1E293B"/>
            </a:solidFill>
            <a:ln w="254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IL" sz="2800"/>
            </a:p>
          </p:txBody>
        </p:sp>
        <p:pic>
          <p:nvPicPr>
            <p:cNvPr id="15" name="Image 0" descr="icons/pause_d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6632" y="2679192"/>
              <a:ext cx="219456" cy="219456"/>
            </a:xfrm>
            <a:prstGeom prst="rect">
              <a:avLst/>
            </a:prstGeom>
          </p:spPr>
        </p:pic>
        <p:sp>
          <p:nvSpPr>
            <p:cNvPr id="16" name="Text 13"/>
            <p:cNvSpPr/>
            <p:nvPr/>
          </p:nvSpPr>
          <p:spPr>
            <a:xfrm>
              <a:off x="425196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Ask user</a:t>
              </a:r>
              <a:endParaRPr 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425196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if not in RAG</a:t>
              </a:r>
              <a:endParaRPr lang="en-US" sz="1600"/>
            </a:p>
          </p:txBody>
        </p:sp>
        <p:sp>
          <p:nvSpPr>
            <p:cNvPr id="18" name="Shape 15"/>
            <p:cNvSpPr/>
            <p:nvPr/>
          </p:nvSpPr>
          <p:spPr>
            <a:xfrm>
              <a:off x="6803136" y="2505456"/>
              <a:ext cx="566928" cy="566928"/>
            </a:xfrm>
            <a:prstGeom prst="ellipse">
              <a:avLst/>
            </a:prstGeom>
            <a:solidFill>
              <a:srgbClr val="1E293B"/>
            </a:solidFill>
            <a:ln w="25400">
              <a:solidFill>
                <a:srgbClr val="A3E635"/>
              </a:solidFill>
              <a:prstDash val="solid"/>
            </a:ln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19" name="Text 16"/>
            <p:cNvSpPr/>
            <p:nvPr/>
          </p:nvSpPr>
          <p:spPr>
            <a:xfrm>
              <a:off x="6803136" y="2505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A3E635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3</a:t>
              </a:r>
              <a:endParaRPr lang="en-US" sz="2400"/>
            </a:p>
          </p:txBody>
        </p:sp>
        <p:sp>
          <p:nvSpPr>
            <p:cNvPr id="20" name="Text 17"/>
            <p:cNvSpPr/>
            <p:nvPr/>
          </p:nvSpPr>
          <p:spPr>
            <a:xfrm>
              <a:off x="617220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Reports</a:t>
              </a:r>
              <a:endParaRPr lang="en-US"/>
            </a:p>
          </p:txBody>
        </p:sp>
        <p:sp>
          <p:nvSpPr>
            <p:cNvPr id="21" name="Text 18"/>
            <p:cNvSpPr/>
            <p:nvPr/>
          </p:nvSpPr>
          <p:spPr>
            <a:xfrm>
              <a:off x="617220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/>
                  <a:ea typeface="Assistant" pitchFamily="34" charset="-122"/>
                  <a:cs typeface="Assistant"/>
                </a:rPr>
                <a:t>framing + formatting</a:t>
              </a:r>
              <a:endParaRPr lang="en-US" sz="1600" err="1"/>
            </a:p>
          </p:txBody>
        </p:sp>
        <p:sp>
          <p:nvSpPr>
            <p:cNvPr id="22" name="Shape 19"/>
            <p:cNvSpPr/>
            <p:nvPr/>
          </p:nvSpPr>
          <p:spPr>
            <a:xfrm>
              <a:off x="8723376" y="2505456"/>
              <a:ext cx="566928" cy="566928"/>
            </a:xfrm>
            <a:prstGeom prst="ellipse">
              <a:avLst/>
            </a:prstGeom>
            <a:solidFill>
              <a:srgbClr val="1E293B"/>
            </a:solidFill>
            <a:ln w="25400">
              <a:solidFill>
                <a:srgbClr val="A3E635"/>
              </a:solidFill>
              <a:prstDash val="solid"/>
            </a:ln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23" name="Text 20"/>
            <p:cNvSpPr/>
            <p:nvPr/>
          </p:nvSpPr>
          <p:spPr>
            <a:xfrm>
              <a:off x="8723376" y="2505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A3E635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4</a:t>
              </a:r>
              <a:endParaRPr lang="en-US" sz="2400"/>
            </a:p>
          </p:txBody>
        </p:sp>
        <p:sp>
          <p:nvSpPr>
            <p:cNvPr id="24" name="Text 21"/>
            <p:cNvSpPr/>
            <p:nvPr/>
          </p:nvSpPr>
          <p:spPr>
            <a:xfrm>
              <a:off x="809244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UnifiedFixer</a:t>
              </a:r>
              <a:endParaRPr lang="en-US"/>
            </a:p>
          </p:txBody>
        </p:sp>
        <p:sp>
          <p:nvSpPr>
            <p:cNvPr id="25" name="Text 22"/>
            <p:cNvSpPr/>
            <p:nvPr/>
          </p:nvSpPr>
          <p:spPr>
            <a:xfrm>
              <a:off x="809244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one revision</a:t>
              </a:r>
              <a:endParaRPr lang="en-US" sz="1600"/>
            </a:p>
          </p:txBody>
        </p:sp>
        <p:sp>
          <p:nvSpPr>
            <p:cNvPr id="26" name="Shape 23"/>
            <p:cNvSpPr/>
            <p:nvPr/>
          </p:nvSpPr>
          <p:spPr>
            <a:xfrm>
              <a:off x="10643616" y="2505456"/>
              <a:ext cx="566928" cy="566928"/>
            </a:xfrm>
            <a:prstGeom prst="ellipse">
              <a:avLst/>
            </a:prstGeom>
            <a:solidFill>
              <a:srgbClr val="A3E635"/>
            </a:solidFill>
            <a:ln/>
          </p:spPr>
          <p:txBody>
            <a:bodyPr/>
            <a:lstStyle/>
            <a:p>
              <a:endParaRPr lang="en-IL" sz="2800"/>
            </a:p>
          </p:txBody>
        </p:sp>
        <p:sp>
          <p:nvSpPr>
            <p:cNvPr id="27" name="Text 24"/>
            <p:cNvSpPr/>
            <p:nvPr/>
          </p:nvSpPr>
          <p:spPr>
            <a:xfrm>
              <a:off x="10643616" y="2505456"/>
              <a:ext cx="566928" cy="5669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0F172A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5</a:t>
              </a:r>
              <a:endParaRPr lang="en-US" sz="2400"/>
            </a:p>
          </p:txBody>
        </p:sp>
        <p:sp>
          <p:nvSpPr>
            <p:cNvPr id="28" name="Text 25"/>
            <p:cNvSpPr/>
            <p:nvPr/>
          </p:nvSpPr>
          <p:spPr>
            <a:xfrm>
              <a:off x="10012680" y="3227832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1F5F9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Merge</a:t>
              </a:r>
              <a:endParaRPr lang="en-US"/>
            </a:p>
          </p:txBody>
        </p:sp>
        <p:sp>
          <p:nvSpPr>
            <p:cNvPr id="29" name="Text 26"/>
            <p:cNvSpPr/>
            <p:nvPr/>
          </p:nvSpPr>
          <p:spPr>
            <a:xfrm>
              <a:off x="10012680" y="353872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600">
                  <a:solidFill>
                    <a:srgbClr val="94A3B8"/>
                  </a:solidFill>
                  <a:latin typeface="Assistant" pitchFamily="34" charset="0"/>
                  <a:ea typeface="Assistant" pitchFamily="34" charset="-122"/>
                  <a:cs typeface="Assistant" pitchFamily="34" charset="-120"/>
                </a:rPr>
                <a:t>response + trace</a:t>
              </a:r>
              <a:endParaRPr lang="en-US" sz="1600"/>
            </a:p>
          </p:txBody>
        </p:sp>
      </p:grpSp>
      <p:sp>
        <p:nvSpPr>
          <p:cNvPr id="30" name="Shape 27"/>
          <p:cNvSpPr/>
          <p:nvPr/>
        </p:nvSpPr>
        <p:spPr>
          <a:xfrm>
            <a:off x="566928" y="4572000"/>
            <a:ext cx="11057839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31" name="Image 1" descr="icons/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828032"/>
            <a:ext cx="438912" cy="43891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481328" y="4572000"/>
            <a:ext cx="9869119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b="1">
                <a:solidFill>
                  <a:srgbClr val="A3E635"/>
                </a:solidFill>
                <a:latin typeface="Assistant"/>
                <a:ea typeface="Assistant" pitchFamily="34" charset="-122"/>
                <a:cs typeface="Assistant"/>
              </a:rPr>
              <a:t>Typical cost:  </a:t>
            </a:r>
            <a:r>
              <a:rPr lang="en-US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7–10 small LLM calls per run · routing skips unused workers · one </a:t>
            </a:r>
            <a:r>
              <a:rPr lang="en-US" err="1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UnifiedFixer</a:t>
            </a:r>
            <a:r>
              <a:rPr lang="en-US">
                <a:solidFill>
                  <a:srgbClr val="94A3B8"/>
                </a:solidFill>
                <a:latin typeface="Assistant"/>
                <a:ea typeface="Assistant" pitchFamily="34" charset="-122"/>
                <a:cs typeface="Assistant"/>
              </a:rPr>
              <a:t> call.</a:t>
            </a:r>
            <a:endParaRPr lang="en-US">
              <a:latin typeface="Assistant"/>
              <a:ea typeface="Calibri"/>
              <a:cs typeface="Calibri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34" name="Text 30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10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8059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30545" y="1371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A3E63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5730545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172A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CF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THANK YOU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Questions &amp; Discussion</a:t>
            </a:r>
            <a:endParaRPr lang="en-US" sz="4400"/>
          </a:p>
        </p:txBody>
      </p:sp>
      <p:sp>
        <p:nvSpPr>
          <p:cNvPr id="6" name="Text 4"/>
          <p:cNvSpPr/>
          <p:nvPr/>
        </p:nvSpPr>
        <p:spPr>
          <a:xfrm>
            <a:off x="2651760" y="3611880"/>
            <a:ext cx="68881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>
                <a:solidFill>
                  <a:srgbClr val="A3E635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</a:t>
            </a:r>
            <a:r>
              <a:rPr lang="en-US" sz="17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turns weeks of re-positioning into minutes — a Supervisor agent that reframes and reformats a paper for any venue, grounded in that venue’s own guidelines.</a:t>
            </a:r>
            <a:endParaRPr lang="en-US" sz="1700"/>
          </a:p>
        </p:txBody>
      </p:sp>
      <p:sp>
        <p:nvSpPr>
          <p:cNvPr id="7" name="Shape 5"/>
          <p:cNvSpPr/>
          <p:nvPr/>
        </p:nvSpPr>
        <p:spPr>
          <a:xfrm>
            <a:off x="1020928" y="4892040"/>
            <a:ext cx="3200400" cy="658368"/>
          </a:xfrm>
          <a:prstGeom prst="roundRect">
            <a:avLst>
              <a:gd name="adj" fmla="val 13889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50566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70736" y="48920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Supervisor + Reflection</a:t>
            </a:r>
            <a:endParaRPr lang="en-US" sz="1350"/>
          </a:p>
        </p:txBody>
      </p:sp>
      <p:sp>
        <p:nvSpPr>
          <p:cNvPr id="10" name="Shape 7"/>
          <p:cNvSpPr/>
          <p:nvPr/>
        </p:nvSpPr>
        <p:spPr>
          <a:xfrm>
            <a:off x="4495648" y="4892040"/>
            <a:ext cx="3200400" cy="658368"/>
          </a:xfrm>
          <a:prstGeom prst="roundRect">
            <a:avLst>
              <a:gd name="adj" fmla="val 13889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688" y="50566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45456" y="48920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Human-in-the-loop RAG</a:t>
            </a:r>
            <a:endParaRPr lang="en-US" sz="1350"/>
          </a:p>
        </p:txBody>
      </p:sp>
      <p:sp>
        <p:nvSpPr>
          <p:cNvPr id="13" name="Shape 9"/>
          <p:cNvSpPr/>
          <p:nvPr/>
        </p:nvSpPr>
        <p:spPr>
          <a:xfrm>
            <a:off x="7970368" y="4892040"/>
            <a:ext cx="3200400" cy="658368"/>
          </a:xfrm>
          <a:prstGeom prst="roundRect">
            <a:avLst>
              <a:gd name="adj" fmla="val 13889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4" name="Image 2" descr="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408" y="50566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20176" y="48920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1F5F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Budget-efficient</a:t>
            </a:r>
            <a:endParaRPr lang="en-US" sz="1350"/>
          </a:p>
        </p:txBody>
      </p:sp>
      <p:sp>
        <p:nvSpPr>
          <p:cNvPr id="16" name="Text 11"/>
          <p:cNvSpPr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ConfFit · Conference Submission Agent</a:t>
            </a:r>
            <a:endParaRPr lang="en-US" sz="1000"/>
          </a:p>
        </p:txBody>
      </p:sp>
      <p:sp>
        <p:nvSpPr>
          <p:cNvPr id="17" name="Text 12"/>
          <p:cNvSpPr/>
          <p:nvPr/>
        </p:nvSpPr>
        <p:spPr>
          <a:xfrm>
            <a:off x="9795967" y="6437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94A3B8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11 / 11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9036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מסך רחב</PresentationFormat>
  <Slides>11</Slides>
  <Notes>11</Notes>
  <HiddenSlides>0</HiddenSlide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2" baseType="lpstr"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15</cp:revision>
  <dcterms:created xsi:type="dcterms:W3CDTF">2026-07-18T10:41:11Z</dcterms:created>
  <dcterms:modified xsi:type="dcterms:W3CDTF">2026-07-19T09:48:29Z</dcterms:modified>
</cp:coreProperties>
</file>